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14"/>
  </p:notesMasterIdLst>
  <p:sldIdLst>
    <p:sldId id="260" r:id="rId6"/>
    <p:sldId id="258" r:id="rId7"/>
    <p:sldId id="259" r:id="rId8"/>
    <p:sldId id="261" r:id="rId9"/>
    <p:sldId id="2147482623" r:id="rId10"/>
    <p:sldId id="262" r:id="rId11"/>
    <p:sldId id="263" r:id="rId12"/>
    <p:sldId id="2147482624" r:id="rId19"/>
    <p:sldId id="214748262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54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E2AD0-062C-434A-B4E4-64FEA9FBE24D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694673-1359-4CB3-968F-02DC6AE2F2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40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85A0A-81CD-C63E-4594-79B38FA91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F6A08D-9635-E40A-4592-D459B1B8D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4CA9A8-E46B-BC2A-02BC-238F5E49AB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B38BC-431D-7F45-C0A9-A363B57402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94673-1359-4CB3-968F-02DC6AE2F2F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2971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72F04-F704-6DC1-E88E-1F08D4DE4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88263B-0245-F5B8-D5B4-8116F6E396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A1A5A3-7D4E-DA1C-0FC3-8679DD09B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B43FF4-530D-DD2D-FF3A-322B9CD5AB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94673-1359-4CB3-968F-02DC6AE2F2F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23405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33AF2-C7C5-FF8A-9CB2-0E8CE56F5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2CE50F-B154-B7A4-C8BA-D7D3D75A42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20A17B-78CE-1BA8-62D9-4891FEDCE7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BC2B85-F72D-5583-9019-34DD2CD074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94673-1359-4CB3-968F-02DC6AE2F2F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58267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A2804-96EA-470A-6905-D720D8558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97CAE5-109C-2B1E-F8CF-911B41D496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7FFCBE-948B-654D-B136-7DF29AA19A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3BCA3-301F-C7B3-B3C4-0B5025389E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94673-1359-4CB3-968F-02DC6AE2F2F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7609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9C4C9-478A-46AA-A933-B89521828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3B3D7C-A7FD-DAEB-E25A-53FAFE5BCB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2B3217-A719-2B3A-547C-9E76AF856E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E91DAB-2F78-D35D-F944-F36D8E2AA4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94673-1359-4CB3-968F-02DC6AE2F2F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4998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28821-1C6C-A4BE-D19A-E0BAA0114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097DC5-B11A-F685-3A05-DBF50DC341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37E788-B669-762D-A839-7E87BD06D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581677-8659-B641-F7F1-C392865057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94673-1359-4CB3-968F-02DC6AE2F2F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7311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F2651-525F-C661-4549-3A4EFF55C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01C603-85F8-0F06-DA56-C3094576BF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B2AB1D-9215-F6E3-3D34-B12F044184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60524E-79B1-FB58-F7F8-DA5AEFC7D6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694673-1359-4CB3-968F-02DC6AE2F2F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2412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C72BA-23AA-1A79-355B-845D5A9977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B630A-56CE-A47A-1BE3-0CB1243E5B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70D3A-8489-7E38-B8F0-A63791619D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2BA01-F072-4E36-975C-5E50CEB8539F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2F6BE1-6709-D80C-5DB5-615FF8709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74B1C-62A8-184E-BDB5-FFB4D55E5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D1F275-0953-4B6D-BEC1-1CEC546D7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5660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12B98-6CC1-C7A1-E508-FB0BAEE70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F5A56-BA03-3F0A-DCA3-29072AC57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56003-689F-D356-B7F9-502853476F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2BA01-F072-4E36-975C-5E50CEB8539F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1041D-2EFC-32BD-5F5D-A521B1F81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37488-35A8-F264-381D-0E5AEA3D5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D1F275-0953-4B6D-BEC1-1CEC546D7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0279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4E3FD-D9EE-86F1-DAC6-0ECC022A2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8F86C-A9E0-2DD4-7034-5771B2CB7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AA2DA-1D30-01C3-2CF2-ADABC58CA8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2BA01-F072-4E36-975C-5E50CEB8539F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6BF6B-31C0-E54B-52CF-26CB9E1E0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424DE-7BDC-4C18-B031-19A7A6CF8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D1F275-0953-4B6D-BEC1-1CEC546D7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548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717A6-86D9-D396-5460-603994270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4EEA0-097A-AD52-BD92-FE56C80F42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2AA00A-7001-12B0-CC18-0322A83247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B20B89-A43E-85C8-A876-3908F79D11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2BA01-F072-4E36-975C-5E50CEB8539F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590A7C-8D36-BF15-F7FF-F0F5FEA18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3CA67F-38D3-DBE6-76FF-42BEC9625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D1F275-0953-4B6D-BEC1-1CEC546D7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241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F7D57-F700-1811-3DC9-78A7F4A91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3A4EEA-8577-1D3D-9DF6-AFBB8BC6D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5EC886-3D3E-FB22-E143-C66826F54D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A22126-FCBA-F968-44A4-9D785C2BDB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F64C8-3CFD-3688-22F9-1E84351B8B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D05D85-5FE1-3C94-238D-FA09274C19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2BA01-F072-4E36-975C-5E50CEB8539F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4F64D8-3946-9B7D-417D-7D0A1D206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FE4F79-5355-4FAB-27FF-9AB09A0C8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D1F275-0953-4B6D-BEC1-1CEC546D7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914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EA1CE-13A1-74B4-3183-6710AAD41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A79D87-5691-0142-A1B7-10799D1706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2BA01-F072-4E36-975C-5E50CEB8539F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96CA7A-28B3-8572-E076-5F427F01A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6F59D6-20EC-60DD-2471-0FEF22CA8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D1F275-0953-4B6D-BEC1-1CEC546D7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720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7C69F2-232E-F586-2C45-131A0E287E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2BA01-F072-4E36-975C-5E50CEB8539F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B3C4E9-997E-9AA9-4D35-40A8DE86A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7BB494-5251-C43B-3FB5-525702673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D1F275-0953-4B6D-BEC1-1CEC546D7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544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F1DB2-85B8-2A85-414C-F9A875B1A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44262-C59C-8DB9-F580-7A01FAB65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E40865-6BBC-6C8D-DA5D-BCDA49E32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7FC3D6-D4DF-E231-B109-31ADE3F928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2BA01-F072-4E36-975C-5E50CEB8539F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7E26F-ECD7-9AF5-0673-F48F2BDCE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A9C50D-F590-653F-5F0F-0BB0366D8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D1F275-0953-4B6D-BEC1-1CEC546D7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3903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E22F0-4328-F85C-0EF6-A1B638AF6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C0FD3E-DD17-5FA8-C61F-EB5E36CE23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A196C3-DC8B-9285-BD79-13DD15D2A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1D1BD-4812-6B9A-ED86-49D9ADAD07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2BA01-F072-4E36-975C-5E50CEB8539F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9EC4D4-B9A8-7A00-4B8C-3D4F6F50A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FF4ACA-9D6F-A538-36BE-F28D3E83C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D1F275-0953-4B6D-BEC1-1CEC546D7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625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63D7B-0CF1-56C5-AD4C-EEA65FA37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9C2065-9CCB-38B8-6B07-F901DC8914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1582A-5C1C-0DEB-F640-CCFEE53309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2BA01-F072-4E36-975C-5E50CEB8539F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803EB-E7A1-3EE2-7F77-2B421BB3F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D36C1-E1F8-659D-D42F-251B360E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D1F275-0953-4B6D-BEC1-1CEC546D7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1292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458DA2-09BD-1E47-1E30-C8EF936288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D02B51-D703-A80B-A052-EC9806C1A8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ACD0B-D1E9-61D8-D9A4-E0E5C9960D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C2BA01-F072-4E36-975C-5E50CEB8539F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750C4-A81C-6178-9DDB-FA02EF992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48AA69-6783-064F-C5FF-F62DC3565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D1F275-0953-4B6D-BEC1-1CEC546D7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3290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60C8E-A9EB-C03B-61F6-A6B2934FF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9FBDE9-173B-7B90-3D6A-41DE2FB68B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AF99A-43D4-4FB6-4308-E9D9C2F006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3F6BE0-4089-4FBC-8EED-5333970949DC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B7545-642A-8D35-66D8-D81161625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6A40B-5001-0462-5B27-41B0B2B06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4C317F-F523-4AC5-BFC6-7D0A8DF63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15506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ACEB7-544A-7B19-CD10-55A01BABE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C714D-EDA1-2DE3-6A28-D0E1C7925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3EE3F-A059-1B85-E582-ECD4DB8610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3F6BE0-4089-4FBC-8EED-5333970949DC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E1962-B740-69A5-2FAD-513F9C744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D6DA22-9638-AB24-936B-200A7658A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4C317F-F523-4AC5-BFC6-7D0A8DF63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50310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3176D-9739-B8A2-671D-2170F64C7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E324FF-5FDA-67CB-8A22-44CC0818D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257A2-CFE3-06DB-773E-D0CFFC2A8A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3F6BE0-4089-4FBC-8EED-5333970949DC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B795E-15EB-CA8C-C0D8-A0362E180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5A338-DCC9-2959-A21D-01136D93C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4C317F-F523-4AC5-BFC6-7D0A8DF63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1442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22EE6-5595-721B-24A9-E06DF4DD9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960B4-6CBF-887B-47C4-F411EDE27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F7D4D5-EE3B-82BB-8974-B5445B1E02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50B0E3-E02A-F06E-F2EF-A3EDDBB3ED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3F6BE0-4089-4FBC-8EED-5333970949DC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0839E1-307B-1C32-D93A-50C22B4BB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25F9A4-4021-5D26-D076-058578B38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4C317F-F523-4AC5-BFC6-7D0A8DF63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7396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DFE1C-2C67-5E78-89E3-0C99B5243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7866B-42CF-B49B-0A44-95BFE647C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715E31-0410-B16D-0928-CF79C46B86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96F4B8-E081-9B6C-F3CC-213B5E2849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0C826F-BBF2-8F42-EB23-EDB94265DA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CE1C0B-05B9-A5F8-6F7C-AADA67084C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3F6BE0-4089-4FBC-8EED-5333970949DC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FDDB26-733E-22C9-429B-7E1760D57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EB49C8-5F35-C324-4F1A-B8FC00A1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4C317F-F523-4AC5-BFC6-7D0A8DF63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2570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EA1A2-91D8-0417-E4C1-B2D1F1F51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982110-708A-3C64-5967-0DA6D855A8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3F6BE0-4089-4FBC-8EED-5333970949DC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40CC10-669D-29F0-56B9-FA5D2136B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789EC5-B1E5-2FD9-256E-452B3BFF0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4C317F-F523-4AC5-BFC6-7D0A8DF63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5978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A07041-AD3B-7595-B0ED-FD7B801397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3F6BE0-4089-4FBC-8EED-5333970949DC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F02EE0-5D19-3827-2D39-33CA0F6E7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AA1F34-2B4B-635F-EF79-7FF778315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4C317F-F523-4AC5-BFC6-7D0A8DF63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8094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319F2-6400-E2BB-9170-6AE8584E7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022C3-77CF-5C22-A8F9-EA50131DC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3F8BE5-51F5-6AC6-F710-6F55D044DB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9D64A9-98C8-3F59-F967-75E192E963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3F6BE0-4089-4FBC-8EED-5333970949DC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4C2C49-A1EC-E2F7-C71F-F36CBD0B5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957FBB-F95B-1EE5-CA59-3C3E993A7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4C317F-F523-4AC5-BFC6-7D0A8DF63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9847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29AFB-AC1A-4C6F-08CF-7C410BD74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BE25ED-8799-739C-2AC3-F22FBA01AB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BEE16C-AC47-7C0A-D050-6BC9F4210F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9C4114-5159-513E-394E-2B65211D4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3F6BE0-4089-4FBC-8EED-5333970949DC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CC54BA-ED46-11B6-238C-CA1820240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364798-E814-9471-5063-1686976CC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4C317F-F523-4AC5-BFC6-7D0A8DF63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1457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2F7FE-B6E3-6A63-1AC8-7BB6B6D5B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12D97F-5686-25FD-C85A-211989A13B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5F781-3E79-764E-1640-1F0100245F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3F6BE0-4089-4FBC-8EED-5333970949DC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F1A029-3323-F8DD-2A5C-99BF4D996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B140A-B252-4201-3228-BC461F0B1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4C317F-F523-4AC5-BFC6-7D0A8DF63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72623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ED2AA0-298E-ED2E-DC3F-4EF8793958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A410FF-D48F-7408-8070-D41C45AE9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9E1AE-FF46-0A5C-3DA6-7E96CD3F1A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3F6BE0-4089-4FBC-8EED-5333970949DC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200C1-3994-C7B1-959B-BF2213D52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084E9-A22F-FD63-3C85-0DE77A849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4C317F-F523-4AC5-BFC6-7D0A8DF63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72980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3" Type="http://schemas.openxmlformats.org/officeDocument/2006/relationships/image" Target="../media/image3.jpg"/><Relationship Id="rId14" Type="http://schemas.openxmlformats.org/officeDocument/2006/relationships/image" Target="../media/image4.png"/><Relationship Id="rId15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A91D7EE-2814-1386-F7FB-3C028A99CF8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915" y="435204"/>
            <a:ext cx="3041584" cy="11050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AE256E7-F9FA-6553-6774-3E50971C9318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50463" y="50015"/>
            <a:ext cx="768437" cy="72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748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5C812EC-DBE8-FDF8-E700-F9FA2663166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1998EF-655A-09B9-841F-CD528306410D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15" y="435204"/>
            <a:ext cx="3041585" cy="11050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B3CA5A-5A99-0453-8A2F-15D5BB50CE12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0463" y="50015"/>
            <a:ext cx="768437" cy="725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195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424019-1524-6260-08B6-7CD0E87D2B0B}"/>
              </a:ext>
            </a:extLst>
          </p:cNvPr>
          <p:cNvSpPr txBox="1"/>
          <p:nvPr/>
        </p:nvSpPr>
        <p:spPr>
          <a:xfrm>
            <a:off x="392536" y="3904711"/>
            <a:ext cx="53206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>
                <a:solidFill>
                  <a:schemeClr val="bg1"/>
                </a:solidFill>
                <a:latin typeface="Houschka Rounded Alt Medium" panose="020F0603000000020003" pitchFamily="34" charset="0"/>
              </a:rPr>
              <a:t>TCS &amp; AMD AI Hackathon</a:t>
            </a:r>
          </a:p>
        </p:txBody>
      </p:sp>
    </p:spTree>
    <p:extLst>
      <p:ext uri="{BB962C8B-B14F-4D97-AF65-F5344CB8AC3E}">
        <p14:creationId xmlns:p14="http://schemas.microsoft.com/office/powerpoint/2010/main" val="768698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0A1BD-7DC0-A69D-CE64-E9DEED8DA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EF5F14-29F5-7277-1544-2E8BDB9A6BAF}"/>
              </a:ext>
            </a:extLst>
          </p:cNvPr>
          <p:cNvSpPr txBox="1"/>
          <p:nvPr/>
        </p:nvSpPr>
        <p:spPr>
          <a:xfrm>
            <a:off x="4591050" y="1782868"/>
            <a:ext cx="3067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effectLst/>
              </a:rPr>
              <a:t>Basic Information</a:t>
            </a:r>
            <a:endParaRPr lang="en-US" sz="28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667B0FC-2D5B-B5E5-09CA-57000EDD742D}"/>
              </a:ext>
            </a:extLst>
          </p:cNvPr>
          <p:cNvGrpSpPr/>
          <p:nvPr/>
        </p:nvGrpSpPr>
        <p:grpSpPr>
          <a:xfrm>
            <a:off x="285748" y="2333495"/>
            <a:ext cx="11106153" cy="4153858"/>
            <a:chOff x="285748" y="2333495"/>
            <a:chExt cx="11106153" cy="4153858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05FB574-A7C9-3F88-63E5-EC2FC9298807}"/>
                </a:ext>
              </a:extLst>
            </p:cNvPr>
            <p:cNvSpPr/>
            <p:nvPr/>
          </p:nvSpPr>
          <p:spPr>
            <a:xfrm>
              <a:off x="2647948" y="5649153"/>
              <a:ext cx="8743952" cy="838199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3E8668A-2559-33F9-977D-5BED3E389643}"/>
                </a:ext>
              </a:extLst>
            </p:cNvPr>
            <p:cNvSpPr/>
            <p:nvPr/>
          </p:nvSpPr>
          <p:spPr>
            <a:xfrm>
              <a:off x="2647948" y="3238250"/>
              <a:ext cx="8743953" cy="120720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1A165D9-7E1C-D509-F1D9-56AC9AD66135}"/>
                </a:ext>
              </a:extLst>
            </p:cNvPr>
            <p:cNvSpPr/>
            <p:nvPr/>
          </p:nvSpPr>
          <p:spPr>
            <a:xfrm>
              <a:off x="2647949" y="2333495"/>
              <a:ext cx="8743951" cy="642495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FFD1352-7843-F42F-B0CD-CCF2BCD8E809}"/>
                </a:ext>
              </a:extLst>
            </p:cNvPr>
            <p:cNvSpPr txBox="1"/>
            <p:nvPr/>
          </p:nvSpPr>
          <p:spPr>
            <a:xfrm>
              <a:off x="285748" y="2376046"/>
              <a:ext cx="1552575" cy="5185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sz="1600" b="1" dirty="0">
                  <a:effectLst/>
                </a:rPr>
                <a:t>Team name: </a:t>
              </a:r>
              <a:endParaRPr lang="en-US" sz="1600" b="1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71EE58B-37CA-0937-855F-24EC78359FA4}"/>
                </a:ext>
              </a:extLst>
            </p:cNvPr>
            <p:cNvSpPr txBox="1"/>
            <p:nvPr/>
          </p:nvSpPr>
          <p:spPr>
            <a:xfrm>
              <a:off x="2647948" y="2347080"/>
              <a:ext cx="744855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IN" dirty="0"/>
                <a:t>DN Innovators </a:t>
              </a: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1738126-0FC3-3441-72E0-DBBAD13CC50E}"/>
                </a:ext>
              </a:extLst>
            </p:cNvPr>
            <p:cNvGrpSpPr/>
            <p:nvPr/>
          </p:nvGrpSpPr>
          <p:grpSpPr>
            <a:xfrm>
              <a:off x="285749" y="3331722"/>
              <a:ext cx="10125076" cy="1212009"/>
              <a:chOff x="352424" y="2975555"/>
              <a:chExt cx="10125076" cy="1212009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5C8D0D7-4EC5-A5B3-94C3-3D1856EEB3F4}"/>
                  </a:ext>
                </a:extLst>
              </p:cNvPr>
              <p:cNvSpPr txBox="1"/>
              <p:nvPr/>
            </p:nvSpPr>
            <p:spPr>
              <a:xfrm>
                <a:off x="352424" y="2975555"/>
                <a:ext cx="2179156" cy="1077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Names of the team members /  role in the team for the Hackathon </a:t>
                </a:r>
                <a:endParaRPr lang="en-US" sz="1600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A20D7AB-8A69-C75C-6547-4C93260778D5}"/>
                  </a:ext>
                </a:extLst>
              </p:cNvPr>
              <p:cNvSpPr txBox="1"/>
              <p:nvPr/>
            </p:nvSpPr>
            <p:spPr>
              <a:xfrm>
                <a:off x="2714624" y="2987235"/>
                <a:ext cx="7762876" cy="1200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IN" dirty="0"/>
                  <a:t>RAM</a:t>
                </a:r>
                <a:r>
                  <a:rPr dirty="0"/>
                  <a:t>: Lead Architect </a:t>
                </a:r>
                <a:endParaRPr lang="en-IN" dirty="0"/>
              </a:p>
              <a:p>
                <a:r>
                  <a:rPr lang="en-IN" dirty="0" err="1"/>
                  <a:t>RAJU:Design</a:t>
                </a:r>
                <a:r>
                  <a:rPr lang="en-IN" dirty="0"/>
                  <a:t>, frontend</a:t>
                </a:r>
              </a:p>
              <a:p>
                <a:r>
                  <a:rPr lang="en-IN" dirty="0"/>
                  <a:t>DHINESH: Backend</a:t>
                </a:r>
              </a:p>
              <a:p>
                <a:endParaRPr dirty="0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C33C272-CB51-C4EE-A839-1FA685BE9C61}"/>
                </a:ext>
              </a:extLst>
            </p:cNvPr>
            <p:cNvGrpSpPr/>
            <p:nvPr/>
          </p:nvGrpSpPr>
          <p:grpSpPr>
            <a:xfrm>
              <a:off x="285748" y="4586806"/>
              <a:ext cx="10191750" cy="719766"/>
              <a:chOff x="352424" y="2364481"/>
              <a:chExt cx="10191750" cy="719766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521AAF2-A77D-E6C3-8689-934B4873182F}"/>
                  </a:ext>
                </a:extLst>
              </p:cNvPr>
              <p:cNvSpPr txBox="1"/>
              <p:nvPr/>
            </p:nvSpPr>
            <p:spPr>
              <a:xfrm>
                <a:off x="352424" y="2364481"/>
                <a:ext cx="1552575" cy="518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1600" b="1" dirty="0"/>
                  <a:t>Project Title</a:t>
                </a:r>
                <a:r>
                  <a:rPr lang="en-US" sz="1600" b="1" dirty="0">
                    <a:effectLst/>
                  </a:rPr>
                  <a:t>: </a:t>
                </a:r>
                <a:endParaRPr lang="en-US" sz="1600" b="1" dirty="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593A9C5-DA7A-5D18-C13F-A593CD4871A0}"/>
                  </a:ext>
                </a:extLst>
              </p:cNvPr>
              <p:cNvSpPr txBox="1"/>
              <p:nvPr/>
            </p:nvSpPr>
            <p:spPr>
              <a:xfrm>
                <a:off x="2714624" y="2565707"/>
                <a:ext cx="7829550" cy="518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dirty="0"/>
                  <a:t>DN Agentic KYC Intelligence Platform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608269A-5EE9-22AF-F66D-9877EF9BE469}"/>
                </a:ext>
              </a:extLst>
            </p:cNvPr>
            <p:cNvGrpSpPr/>
            <p:nvPr/>
          </p:nvGrpSpPr>
          <p:grpSpPr>
            <a:xfrm>
              <a:off x="285749" y="5564023"/>
              <a:ext cx="10191749" cy="923330"/>
              <a:chOff x="352425" y="2333495"/>
              <a:chExt cx="10191749" cy="923330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D828B01-E67C-5F2C-1ADE-5997D29AB668}"/>
                  </a:ext>
                </a:extLst>
              </p:cNvPr>
              <p:cNvSpPr txBox="1"/>
              <p:nvPr/>
            </p:nvSpPr>
            <p:spPr>
              <a:xfrm>
                <a:off x="352425" y="2333495"/>
                <a:ext cx="2295526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Short Description</a:t>
                </a:r>
                <a:r>
                  <a:rPr lang="en-US" sz="1600" b="1" dirty="0">
                    <a:effectLst/>
                  </a:rPr>
                  <a:t>: </a:t>
                </a:r>
                <a:endParaRPr lang="en-US" sz="1600" b="1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ED8055C-D7E6-0155-2F2C-29F6F74D2103}"/>
                  </a:ext>
                </a:extLst>
              </p:cNvPr>
              <p:cNvSpPr txBox="1"/>
              <p:nvPr/>
            </p:nvSpPr>
            <p:spPr>
              <a:xfrm>
                <a:off x="2647951" y="2333495"/>
                <a:ext cx="7896223" cy="923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dirty="0"/>
                  <a:t>An autonomous, AI-driven CDD platform using a </a:t>
                </a:r>
                <a:r>
                  <a:rPr dirty="0" err="1"/>
                  <a:t>LangGraph</a:t>
                </a:r>
                <a:r>
                  <a:rPr dirty="0"/>
                  <a:t> pipeline of 5 specialized agents to perform data extraction, verification, screening, and financial profiling with complete explainability and human oversight.</a:t>
                </a:r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2E9FF98-9EE9-E953-5F18-10D2D38CBA5A}"/>
                </a:ext>
              </a:extLst>
            </p:cNvPr>
            <p:cNvSpPr/>
            <p:nvPr/>
          </p:nvSpPr>
          <p:spPr>
            <a:xfrm>
              <a:off x="2647948" y="4812862"/>
              <a:ext cx="8743952" cy="51854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30724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37BD9-4BF1-B41A-46F0-DFD641797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45C9176-CDB5-3093-B699-7303389F73E8}"/>
              </a:ext>
            </a:extLst>
          </p:cNvPr>
          <p:cNvGrpSpPr/>
          <p:nvPr/>
        </p:nvGrpSpPr>
        <p:grpSpPr>
          <a:xfrm>
            <a:off x="39757" y="2017643"/>
            <a:ext cx="11569147" cy="4398710"/>
            <a:chOff x="359875" y="2333495"/>
            <a:chExt cx="11032025" cy="435754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3CF691F-895A-2FB7-CA09-175311635B35}"/>
                </a:ext>
              </a:extLst>
            </p:cNvPr>
            <p:cNvSpPr/>
            <p:nvPr/>
          </p:nvSpPr>
          <p:spPr>
            <a:xfrm>
              <a:off x="2647949" y="5427065"/>
              <a:ext cx="8743951" cy="1199335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883DAB5-493A-A435-B2D1-67AAC1CC4F47}"/>
                </a:ext>
              </a:extLst>
            </p:cNvPr>
            <p:cNvSpPr/>
            <p:nvPr/>
          </p:nvSpPr>
          <p:spPr>
            <a:xfrm>
              <a:off x="2647948" y="3343400"/>
              <a:ext cx="8743951" cy="99632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72CB27C-24A0-2C91-E8E3-BF75D2AA659B}"/>
                </a:ext>
              </a:extLst>
            </p:cNvPr>
            <p:cNvSpPr/>
            <p:nvPr/>
          </p:nvSpPr>
          <p:spPr>
            <a:xfrm>
              <a:off x="2647949" y="2333495"/>
              <a:ext cx="8743951" cy="904755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20ACEDC-8B91-DF52-8419-F06F4BAAC209}"/>
                </a:ext>
              </a:extLst>
            </p:cNvPr>
            <p:cNvSpPr txBox="1"/>
            <p:nvPr/>
          </p:nvSpPr>
          <p:spPr>
            <a:xfrm>
              <a:off x="359875" y="2382725"/>
              <a:ext cx="2044698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effectLst/>
                </a:rPr>
                <a:t>Problem statement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0D982BC-E737-D00B-FEFA-C24FB7265091}"/>
                </a:ext>
              </a:extLst>
            </p:cNvPr>
            <p:cNvSpPr txBox="1"/>
            <p:nvPr/>
          </p:nvSpPr>
          <p:spPr>
            <a:xfrm>
              <a:off x="2647948" y="2347080"/>
              <a:ext cx="8632965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dirty="0"/>
                <a:t>Build an agentic KYC platform where multiple specialized agents collaborate to perform end-to-end customer due diligence while maintaining explainability and human oversight.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EA3EF08-A94A-1729-7017-7C64D8A30AEB}"/>
                </a:ext>
              </a:extLst>
            </p:cNvPr>
            <p:cNvGrpSpPr/>
            <p:nvPr/>
          </p:nvGrpSpPr>
          <p:grpSpPr>
            <a:xfrm>
              <a:off x="359875" y="3390549"/>
              <a:ext cx="9787978" cy="949172"/>
              <a:chOff x="426550" y="3034382"/>
              <a:chExt cx="9787978" cy="949172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C7D1A1F-DBDC-E312-DAFB-3325567982BD}"/>
                  </a:ext>
                </a:extLst>
              </p:cNvPr>
              <p:cNvSpPr txBox="1"/>
              <p:nvPr/>
            </p:nvSpPr>
            <p:spPr>
              <a:xfrm>
                <a:off x="426550" y="3046310"/>
                <a:ext cx="2154723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Target users / stakeholders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E82F669-E60C-067B-2FB0-615BC700B2A9}"/>
                  </a:ext>
                </a:extLst>
              </p:cNvPr>
              <p:cNvSpPr txBox="1"/>
              <p:nvPr/>
            </p:nvSpPr>
            <p:spPr>
              <a:xfrm>
                <a:off x="2714623" y="3034382"/>
                <a:ext cx="7499905" cy="9491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dirty="0"/>
                  <a:t>- Primary: KYC Analysts, Compliance Officers, Risk Managers</a:t>
                </a:r>
              </a:p>
              <a:p>
                <a:r>
                  <a:rPr dirty="0"/>
                  <a:t>- Secondary: Operations Execs, Audit Teams</a:t>
                </a:r>
              </a:p>
              <a:p>
                <a:r>
                  <a:rPr dirty="0"/>
                  <a:t>- Stakeholders: Banks, Fintechs, Crypto Exchanges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D1D84EC-0818-6381-B78B-90F6D66A2BE8}"/>
                </a:ext>
              </a:extLst>
            </p:cNvPr>
            <p:cNvGrpSpPr/>
            <p:nvPr/>
          </p:nvGrpSpPr>
          <p:grpSpPr>
            <a:xfrm>
              <a:off x="370012" y="4386869"/>
              <a:ext cx="10107486" cy="914689"/>
              <a:chOff x="436688" y="2164544"/>
              <a:chExt cx="10107486" cy="914689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B4D76F0-2C42-FBA0-1C38-0B060F8592D3}"/>
                  </a:ext>
                </a:extLst>
              </p:cNvPr>
              <p:cNvSpPr txBox="1"/>
              <p:nvPr/>
            </p:nvSpPr>
            <p:spPr>
              <a:xfrm>
                <a:off x="436688" y="2280420"/>
                <a:ext cx="1819053" cy="5793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Why this problem matters 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15A6E9-C1B9-7920-B386-1000CF478597}"/>
                  </a:ext>
                </a:extLst>
              </p:cNvPr>
              <p:cNvSpPr txBox="1"/>
              <p:nvPr/>
            </p:nvSpPr>
            <p:spPr>
              <a:xfrm>
                <a:off x="2714623" y="2164544"/>
                <a:ext cx="7829551" cy="9146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dirty="0"/>
                  <a:t>- Regulatory: Solves the AI 'Black Box' problem with auditable PDF evidence trails.</a:t>
                </a:r>
              </a:p>
              <a:p>
                <a:r>
                  <a:rPr dirty="0"/>
                  <a:t>- Operational: Slashes manual review bottlenecks and onboarding times.</a:t>
                </a:r>
              </a:p>
              <a:p>
                <a:r>
                  <a:rPr dirty="0"/>
                  <a:t>- Risk Mitigation: Detects complex, sophisticated fraud heuristics.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41A3F27-D706-A182-AD71-B213E0A6EF9B}"/>
                </a:ext>
              </a:extLst>
            </p:cNvPr>
            <p:cNvGrpSpPr/>
            <p:nvPr/>
          </p:nvGrpSpPr>
          <p:grpSpPr>
            <a:xfrm>
              <a:off x="359875" y="5501944"/>
              <a:ext cx="10117624" cy="1189095"/>
              <a:chOff x="426551" y="2271416"/>
              <a:chExt cx="10117624" cy="1189095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2B40BC0-1F9B-E94D-C589-304D86162B91}"/>
                  </a:ext>
                </a:extLst>
              </p:cNvPr>
              <p:cNvSpPr txBox="1"/>
              <p:nvPr/>
            </p:nvSpPr>
            <p:spPr>
              <a:xfrm>
                <a:off x="426551" y="2333494"/>
                <a:ext cx="2027725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Mapped hackathon challenge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1DF9F51-CEF4-982E-9257-096C792B84AB}"/>
                  </a:ext>
                </a:extLst>
              </p:cNvPr>
              <p:cNvSpPr txBox="1"/>
              <p:nvPr/>
            </p:nvSpPr>
            <p:spPr>
              <a:xfrm>
                <a:off x="2714624" y="2271416"/>
                <a:ext cx="7829551" cy="11890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dirty="0"/>
                  <a:t>- Agentic Orchestration (</a:t>
                </a:r>
                <a:r>
                  <a:rPr dirty="0" err="1"/>
                  <a:t>LangGraph</a:t>
                </a:r>
                <a:r>
                  <a:rPr dirty="0"/>
                  <a:t>)</a:t>
                </a:r>
              </a:p>
              <a:p>
                <a:r>
                  <a:rPr dirty="0"/>
                  <a:t>- Explainable Risk Scoring (LLM narratives)</a:t>
                </a:r>
              </a:p>
              <a:p>
                <a:r>
                  <a:rPr dirty="0"/>
                  <a:t>- Human-in-the-Loop Design (Escalation queue)</a:t>
                </a:r>
              </a:p>
              <a:p>
                <a:r>
                  <a:rPr dirty="0"/>
                  <a:t>- AMD </a:t>
                </a:r>
                <a:r>
                  <a:rPr dirty="0" err="1"/>
                  <a:t>ROCm</a:t>
                </a:r>
                <a:r>
                  <a:rPr dirty="0"/>
                  <a:t> Integration</a:t>
                </a:r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BA2BE1D-AB3E-4FAF-7389-BFF3DB9A406F}"/>
                </a:ext>
              </a:extLst>
            </p:cNvPr>
            <p:cNvSpPr/>
            <p:nvPr/>
          </p:nvSpPr>
          <p:spPr>
            <a:xfrm>
              <a:off x="2647948" y="4434018"/>
              <a:ext cx="8743951" cy="914687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A0C12ADC-C8DE-5CC2-606D-8AE03114EED7}"/>
              </a:ext>
            </a:extLst>
          </p:cNvPr>
          <p:cNvSpPr txBox="1"/>
          <p:nvPr/>
        </p:nvSpPr>
        <p:spPr>
          <a:xfrm>
            <a:off x="4591050" y="1471777"/>
            <a:ext cx="43442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effectLst/>
              </a:rPr>
              <a:t>Problem &amp; Context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35434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53907-EED6-E614-57C1-4AE79E108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12DBCD33-D62D-EB98-EB8D-1376CE9F7C05}"/>
              </a:ext>
            </a:extLst>
          </p:cNvPr>
          <p:cNvGrpSpPr/>
          <p:nvPr/>
        </p:nvGrpSpPr>
        <p:grpSpPr>
          <a:xfrm>
            <a:off x="750086" y="1527159"/>
            <a:ext cx="10691829" cy="4835943"/>
            <a:chOff x="3462682" y="1568834"/>
            <a:chExt cx="7992718" cy="330147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0BC50F8-B10E-2ABD-BCA2-E7F109010F22}"/>
                </a:ext>
              </a:extLst>
            </p:cNvPr>
            <p:cNvSpPr/>
            <p:nvPr/>
          </p:nvSpPr>
          <p:spPr>
            <a:xfrm>
              <a:off x="3462682" y="1939794"/>
              <a:ext cx="7992717" cy="2930511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1A08A97-7193-219A-A390-1B6ED083153B}"/>
                </a:ext>
              </a:extLst>
            </p:cNvPr>
            <p:cNvSpPr txBox="1"/>
            <p:nvPr/>
          </p:nvSpPr>
          <p:spPr>
            <a:xfrm>
              <a:off x="3462683" y="1568834"/>
              <a:ext cx="7992717" cy="3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b="1" dirty="0"/>
                <a:t>Solution Architecture </a:t>
              </a:r>
            </a:p>
          </p:txBody>
        </p:sp>
      </p:grp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4D259DFF-9498-53CB-BBB9-2770A4C10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40" y="2070530"/>
            <a:ext cx="10256363" cy="4179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583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56055-8FB0-89BF-D832-776A6F100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8E4D57B2-4FBF-81D3-F497-4FFF7A282AC7}"/>
              </a:ext>
            </a:extLst>
          </p:cNvPr>
          <p:cNvGrpSpPr/>
          <p:nvPr/>
        </p:nvGrpSpPr>
        <p:grpSpPr>
          <a:xfrm>
            <a:off x="656951" y="1008560"/>
            <a:ext cx="10798449" cy="5100009"/>
            <a:chOff x="656951" y="1008560"/>
            <a:chExt cx="10798449" cy="5100009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33CAD06-C0AE-9544-8B4C-0926F13AFD66}"/>
                </a:ext>
              </a:extLst>
            </p:cNvPr>
            <p:cNvGrpSpPr/>
            <p:nvPr/>
          </p:nvGrpSpPr>
          <p:grpSpPr>
            <a:xfrm>
              <a:off x="656951" y="1826450"/>
              <a:ext cx="10798449" cy="4282119"/>
              <a:chOff x="593451" y="2220150"/>
              <a:chExt cx="10798449" cy="4282119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FDB816D-8A68-46BD-80DE-8CA47DDCD321}"/>
                  </a:ext>
                </a:extLst>
              </p:cNvPr>
              <p:cNvSpPr/>
              <p:nvPr/>
            </p:nvSpPr>
            <p:spPr>
              <a:xfrm>
                <a:off x="3399182" y="3551128"/>
                <a:ext cx="7992718" cy="982719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1464F73-49C4-7DEC-A053-CFD2559A8785}"/>
                  </a:ext>
                </a:extLst>
              </p:cNvPr>
              <p:cNvSpPr/>
              <p:nvPr/>
            </p:nvSpPr>
            <p:spPr>
              <a:xfrm>
                <a:off x="3399182" y="2220150"/>
                <a:ext cx="7992718" cy="982719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6BFF6B04-8769-48F3-5CDA-2802365881D8}"/>
                  </a:ext>
                </a:extLst>
              </p:cNvPr>
              <p:cNvGrpSpPr/>
              <p:nvPr/>
            </p:nvGrpSpPr>
            <p:grpSpPr>
              <a:xfrm>
                <a:off x="593452" y="2221607"/>
                <a:ext cx="10798447" cy="923330"/>
                <a:chOff x="660127" y="1865440"/>
                <a:chExt cx="10798447" cy="923330"/>
              </a:xfrm>
            </p:grpSpPr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F5EB612-3C20-E3D8-15EF-D2F7A1658B08}"/>
                    </a:ext>
                  </a:extLst>
                </p:cNvPr>
                <p:cNvSpPr txBox="1"/>
                <p:nvPr/>
              </p:nvSpPr>
              <p:spPr>
                <a:xfrm>
                  <a:off x="660127" y="2201021"/>
                  <a:ext cx="2805730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1600" b="1" dirty="0"/>
                    <a:t>AI approach used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B500FDA0-9F4E-6267-40E3-8EFC24D1B136}"/>
                    </a:ext>
                  </a:extLst>
                </p:cNvPr>
                <p:cNvSpPr txBox="1"/>
                <p:nvPr/>
              </p:nvSpPr>
              <p:spPr>
                <a:xfrm>
                  <a:off x="3465857" y="1865440"/>
                  <a:ext cx="7992717" cy="923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dirty="0"/>
                    <a:t>- Multi-Agent GenAI (5 independent specialized LLMs)</a:t>
                  </a:r>
                </a:p>
                <a:p>
                  <a:r>
                    <a:rPr dirty="0"/>
                    <a:t>- Agentic Orchestration (</a:t>
                  </a:r>
                  <a:r>
                    <a:rPr dirty="0" err="1"/>
                    <a:t>LangGraph</a:t>
                  </a:r>
                  <a:r>
                    <a:rPr dirty="0"/>
                    <a:t> state flow)</a:t>
                  </a:r>
                </a:p>
                <a:p>
                  <a:r>
                    <a:rPr dirty="0"/>
                    <a:t>- Explainable AI (LLM narrative generation)</a:t>
                  </a:r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EA5640BC-3741-7363-7846-FA96BD7EF274}"/>
                  </a:ext>
                </a:extLst>
              </p:cNvPr>
              <p:cNvGrpSpPr/>
              <p:nvPr/>
            </p:nvGrpSpPr>
            <p:grpSpPr>
              <a:xfrm>
                <a:off x="593451" y="3551128"/>
                <a:ext cx="10016157" cy="2435549"/>
                <a:chOff x="660127" y="320600"/>
                <a:chExt cx="10016157" cy="2435549"/>
              </a:xfrm>
            </p:grpSpPr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8957995-C285-3BD0-6125-B0E6DD542676}"/>
                    </a:ext>
                  </a:extLst>
                </p:cNvPr>
                <p:cNvSpPr txBox="1"/>
                <p:nvPr/>
              </p:nvSpPr>
              <p:spPr>
                <a:xfrm>
                  <a:off x="660127" y="575124"/>
                  <a:ext cx="2723321" cy="5847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1600" b="1" dirty="0"/>
                    <a:t>Key technologies / frameworks leveraged</a:t>
                  </a: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4A47000B-761F-C158-4113-17C4752961A3}"/>
                    </a:ext>
                  </a:extLst>
                </p:cNvPr>
                <p:cNvSpPr txBox="1"/>
                <p:nvPr/>
              </p:nvSpPr>
              <p:spPr>
                <a:xfrm>
                  <a:off x="3465858" y="320600"/>
                  <a:ext cx="7210426" cy="923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dirty="0"/>
                    <a:t>- </a:t>
                  </a:r>
                  <a:r>
                    <a:rPr dirty="0"/>
                    <a:t>Frontend: </a:t>
                  </a:r>
                  <a:r>
                    <a:rPr dirty="0" err="1"/>
                    <a:t>Streamlit</a:t>
                  </a:r>
                  <a:r>
                    <a:rPr dirty="0"/>
                    <a:t>, Plotly, FPDF2.</a:t>
                  </a:r>
                </a:p>
                <a:p>
                  <a:r>
                    <a:rPr lang="en-US" dirty="0"/>
                    <a:t>- </a:t>
                  </a:r>
                  <a:r>
                    <a:rPr dirty="0"/>
                    <a:t>Backend: </a:t>
                  </a:r>
                  <a:r>
                    <a:rPr dirty="0" err="1"/>
                    <a:t>FastAPI</a:t>
                  </a:r>
                  <a:r>
                    <a:rPr dirty="0"/>
                    <a:t>, </a:t>
                  </a:r>
                  <a:r>
                    <a:rPr dirty="0" err="1"/>
                    <a:t>LangGraph</a:t>
                  </a:r>
                  <a:r>
                    <a:rPr dirty="0"/>
                    <a:t>, </a:t>
                  </a:r>
                  <a:r>
                    <a:rPr dirty="0" err="1"/>
                    <a:t>LangChain</a:t>
                  </a:r>
                  <a:r>
                    <a:rPr dirty="0"/>
                    <a:t>.</a:t>
                  </a:r>
                </a:p>
                <a:p>
                  <a:r>
                    <a:rPr lang="en-US" dirty="0"/>
                    <a:t>- I</a:t>
                  </a:r>
                  <a:r>
                    <a:rPr dirty="0"/>
                    <a:t>nfrastructure: AMD </a:t>
                  </a:r>
                  <a:r>
                    <a:rPr dirty="0" err="1"/>
                    <a:t>ROCm</a:t>
                  </a:r>
                  <a:r>
                    <a:rPr dirty="0"/>
                    <a:t> ecosystem, </a:t>
                  </a:r>
                  <a:r>
                    <a:rPr dirty="0" err="1"/>
                    <a:t>vLLM</a:t>
                  </a:r>
                  <a:r>
                    <a:rPr dirty="0"/>
                    <a:t>.</a:t>
                  </a: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191FD064-2871-F815-D806-2C774F83003B}"/>
                    </a:ext>
                  </a:extLst>
                </p:cNvPr>
                <p:cNvSpPr txBox="1"/>
                <p:nvPr/>
              </p:nvSpPr>
              <p:spPr>
                <a:xfrm>
                  <a:off x="660128" y="2171374"/>
                  <a:ext cx="2507558" cy="5847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1600" b="1" dirty="0"/>
                    <a:t>What was built during the hackathon</a:t>
                  </a:r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8C064E3-2A8B-E672-A521-61FDA515A0BB}"/>
                    </a:ext>
                  </a:extLst>
                </p:cNvPr>
                <p:cNvSpPr txBox="1"/>
                <p:nvPr/>
              </p:nvSpPr>
              <p:spPr>
                <a:xfrm>
                  <a:off x="3597968" y="1737742"/>
                  <a:ext cx="7078316" cy="5185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dirty="0"/>
                    <a:t>- End-to-End KYC Platform</a:t>
                  </a:r>
                </a:p>
                <a:p>
                  <a:r>
                    <a:rPr dirty="0"/>
                    <a:t>- Live Risk Dashboard</a:t>
                  </a:r>
                </a:p>
                <a:p>
                  <a:r>
                    <a:rPr dirty="0"/>
                    <a:t>- Human-in-the-Loop Analyst Queue</a:t>
                  </a:r>
                </a:p>
                <a:p>
                  <a:r>
                    <a:rPr dirty="0"/>
                    <a:t>- Automated PDF Evidence Generation</a:t>
                  </a:r>
                </a:p>
                <a:p>
                  <a:r>
                    <a:rPr dirty="0"/>
                    <a:t>- Global Precision/Recall Metrics Engine</a:t>
                  </a:r>
                </a:p>
              </p:txBody>
            </p:sp>
          </p:grp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8078688-3E93-943D-63C2-8E72FC00035B}"/>
                  </a:ext>
                </a:extLst>
              </p:cNvPr>
              <p:cNvSpPr/>
              <p:nvPr/>
            </p:nvSpPr>
            <p:spPr>
              <a:xfrm>
                <a:off x="3399182" y="4968271"/>
                <a:ext cx="7992718" cy="1533998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E1279F9-A3D3-3EED-BD49-EE77FE56C07F}"/>
                </a:ext>
              </a:extLst>
            </p:cNvPr>
            <p:cNvSpPr txBox="1"/>
            <p:nvPr/>
          </p:nvSpPr>
          <p:spPr>
            <a:xfrm>
              <a:off x="4705281" y="1008560"/>
              <a:ext cx="434422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sz="2800" b="1" dirty="0">
                  <a:effectLst/>
                </a:rPr>
                <a:t>Solution Overview</a:t>
              </a:r>
              <a:endParaRPr 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2596908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C1762-96FD-67B4-1915-DC16C07D1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0FD932-70BE-4E3E-6E2E-88F6D867A752}"/>
              </a:ext>
            </a:extLst>
          </p:cNvPr>
          <p:cNvSpPr txBox="1"/>
          <p:nvPr/>
        </p:nvSpPr>
        <p:spPr>
          <a:xfrm>
            <a:off x="12842875" y="843677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t>Technical Details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C1525E2-9E46-2E74-0004-C934FD981D3A}"/>
              </a:ext>
            </a:extLst>
          </p:cNvPr>
          <p:cNvGrpSpPr/>
          <p:nvPr/>
        </p:nvGrpSpPr>
        <p:grpSpPr>
          <a:xfrm>
            <a:off x="145584" y="1629304"/>
            <a:ext cx="11338493" cy="4197261"/>
            <a:chOff x="140923" y="2333494"/>
            <a:chExt cx="11250977" cy="366695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272C85C-2DE1-B4BC-8EAA-CF8C051EE9E1}"/>
                </a:ext>
              </a:extLst>
            </p:cNvPr>
            <p:cNvSpPr/>
            <p:nvPr/>
          </p:nvSpPr>
          <p:spPr>
            <a:xfrm>
              <a:off x="3084374" y="3333130"/>
              <a:ext cx="8307526" cy="642495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D73168D-A699-0EC4-27A8-06901A3705F3}"/>
                </a:ext>
              </a:extLst>
            </p:cNvPr>
            <p:cNvSpPr/>
            <p:nvPr/>
          </p:nvSpPr>
          <p:spPr>
            <a:xfrm>
              <a:off x="3084374" y="2333494"/>
              <a:ext cx="8307526" cy="642495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56B78DF-5FAE-12E3-594C-E17BE47A01A7}"/>
                </a:ext>
              </a:extLst>
            </p:cNvPr>
            <p:cNvSpPr txBox="1"/>
            <p:nvPr/>
          </p:nvSpPr>
          <p:spPr>
            <a:xfrm>
              <a:off x="163377" y="2392636"/>
              <a:ext cx="2920998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effectLst/>
                </a:rPr>
                <a:t>Models used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2050B95-41F3-6F10-C40A-2A19AF668D34}"/>
                </a:ext>
              </a:extLst>
            </p:cNvPr>
            <p:cNvSpPr txBox="1"/>
            <p:nvPr/>
          </p:nvSpPr>
          <p:spPr>
            <a:xfrm>
              <a:off x="3084374" y="2347080"/>
              <a:ext cx="8307522" cy="3226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dirty="0"/>
                <a:t>Llama-3-8B-Instruct</a:t>
              </a:r>
              <a:r>
                <a:rPr lang="en-US" dirty="0"/>
                <a:t> and </a:t>
              </a:r>
              <a:r>
                <a:rPr dirty="0"/>
                <a:t>served via </a:t>
              </a:r>
              <a:r>
                <a:rPr dirty="0" err="1"/>
                <a:t>vLLM</a:t>
              </a:r>
              <a:r>
                <a:rPr dirty="0"/>
                <a:t>.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F789286-87E1-64BB-093E-36B7A28FB68B}"/>
                </a:ext>
              </a:extLst>
            </p:cNvPr>
            <p:cNvGrpSpPr/>
            <p:nvPr/>
          </p:nvGrpSpPr>
          <p:grpSpPr>
            <a:xfrm>
              <a:off x="140923" y="3322713"/>
              <a:ext cx="9655193" cy="2592267"/>
              <a:chOff x="207599" y="92186"/>
              <a:chExt cx="9655193" cy="2592266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8639DFC-7D52-97E9-6166-21731BFB0339}"/>
                  </a:ext>
                </a:extLst>
              </p:cNvPr>
              <p:cNvSpPr txBox="1"/>
              <p:nvPr/>
            </p:nvSpPr>
            <p:spPr>
              <a:xfrm>
                <a:off x="207599" y="123039"/>
                <a:ext cx="2452822" cy="8309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Number of tokens used for a couple of example scenarios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D965C3D-B5E3-F6A6-465E-B5CC4177D8B4}"/>
                  </a:ext>
                </a:extLst>
              </p:cNvPr>
              <p:cNvSpPr txBox="1"/>
              <p:nvPr/>
            </p:nvSpPr>
            <p:spPr>
              <a:xfrm>
                <a:off x="3151052" y="92186"/>
                <a:ext cx="6597440" cy="518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dirty="0"/>
                  <a:t>Average full pipeline: ~3,500 input tokens distributed across 5 agents. ~800 output tokens.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91CBBB3-0AA0-04B8-334F-3931FEC67153}"/>
                  </a:ext>
                </a:extLst>
              </p:cNvPr>
              <p:cNvSpPr txBox="1"/>
              <p:nvPr/>
            </p:nvSpPr>
            <p:spPr>
              <a:xfrm>
                <a:off x="217355" y="1300528"/>
                <a:ext cx="230042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End-to-end latency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DCF6406-636B-E0D2-88E8-5A9FED53DCB8}"/>
                  </a:ext>
                </a:extLst>
              </p:cNvPr>
              <p:cNvSpPr txBox="1"/>
              <p:nvPr/>
            </p:nvSpPr>
            <p:spPr>
              <a:xfrm>
                <a:off x="3138354" y="1172996"/>
                <a:ext cx="6724438" cy="6964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dirty="0"/>
                  <a:t>Complete pipeline resolves in ~4-6 seconds per customer due to fast-inference via AMD </a:t>
                </a:r>
                <a:r>
                  <a:rPr dirty="0" err="1"/>
                  <a:t>ROCm</a:t>
                </a:r>
                <a:r>
                  <a:rPr dirty="0"/>
                  <a:t> + </a:t>
                </a:r>
                <a:r>
                  <a:rPr dirty="0" err="1"/>
                  <a:t>vLLM</a:t>
                </a:r>
                <a:r>
                  <a:rPr dirty="0"/>
                  <a:t>.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A6BFD47-4657-BACC-C35E-96C95C8DDA01}"/>
                  </a:ext>
                </a:extLst>
              </p:cNvPr>
              <p:cNvSpPr txBox="1"/>
              <p:nvPr/>
            </p:nvSpPr>
            <p:spPr>
              <a:xfrm>
                <a:off x="217356" y="2154247"/>
                <a:ext cx="2811718" cy="5302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GPU usage including memory</a:t>
                </a:r>
                <a:endParaRPr lang="en-US" sz="1600" dirty="0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6DD4D53-BF8B-2B08-B2EA-46448CEAA253}"/>
                  </a:ext>
                </a:extLst>
              </p:cNvPr>
              <p:cNvSpPr txBox="1"/>
              <p:nvPr/>
            </p:nvSpPr>
            <p:spPr>
              <a:xfrm>
                <a:off x="3151050" y="2165912"/>
                <a:ext cx="6711741" cy="518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dirty="0"/>
                  <a:t>Runs comfortably on a single AMD GPU (e.g., Radeon RX 7900 XTX or Instinct MI210) requiring ~16-24GB VRAM.</a:t>
                </a:r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8FE62A5-6897-60B1-66C1-E3DAC46B5E86}"/>
                </a:ext>
              </a:extLst>
            </p:cNvPr>
            <p:cNvSpPr/>
            <p:nvPr/>
          </p:nvSpPr>
          <p:spPr>
            <a:xfrm>
              <a:off x="3084373" y="4395008"/>
              <a:ext cx="8307526" cy="612035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C05C553-61E7-E800-3D07-CA82FEF2483A}"/>
                </a:ext>
              </a:extLst>
            </p:cNvPr>
            <p:cNvSpPr/>
            <p:nvPr/>
          </p:nvSpPr>
          <p:spPr>
            <a:xfrm>
              <a:off x="3071678" y="5388413"/>
              <a:ext cx="8307525" cy="612036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99EC1EA-BE3F-026A-D476-C44BC1683034}"/>
              </a:ext>
            </a:extLst>
          </p:cNvPr>
          <p:cNvSpPr txBox="1"/>
          <p:nvPr/>
        </p:nvSpPr>
        <p:spPr>
          <a:xfrm>
            <a:off x="4595787" y="934574"/>
            <a:ext cx="4344228" cy="485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effectLst/>
              </a:rPr>
              <a:t>AMD ROCm &amp; vLLM Stack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10731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C808-ECB5-1970-7269-AA6B7728F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F3272C6-9E53-0708-6999-F20557EC5737}"/>
              </a:ext>
            </a:extLst>
          </p:cNvPr>
          <p:cNvGrpSpPr/>
          <p:nvPr/>
        </p:nvGrpSpPr>
        <p:grpSpPr>
          <a:xfrm>
            <a:off x="359875" y="2333495"/>
            <a:ext cx="11032026" cy="4161570"/>
            <a:chOff x="359875" y="2333495"/>
            <a:chExt cx="11032026" cy="416157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F033F42-6A24-83A7-813F-CBA028298D2F}"/>
                </a:ext>
              </a:extLst>
            </p:cNvPr>
            <p:cNvSpPr/>
            <p:nvPr/>
          </p:nvSpPr>
          <p:spPr>
            <a:xfrm>
              <a:off x="2647949" y="3614013"/>
              <a:ext cx="8743952" cy="1074682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6A6F5EA-7C1C-708E-0600-190F51A1AEB2}"/>
                </a:ext>
              </a:extLst>
            </p:cNvPr>
            <p:cNvSpPr/>
            <p:nvPr/>
          </p:nvSpPr>
          <p:spPr>
            <a:xfrm>
              <a:off x="2647949" y="2333495"/>
              <a:ext cx="8743952" cy="979635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E3D062D-E455-583F-27B5-87965F825CDD}"/>
                </a:ext>
              </a:extLst>
            </p:cNvPr>
            <p:cNvSpPr txBox="1"/>
            <p:nvPr/>
          </p:nvSpPr>
          <p:spPr>
            <a:xfrm>
              <a:off x="359875" y="2620463"/>
              <a:ext cx="2154724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effectLst/>
                </a:rPr>
                <a:t>Expected impact or value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36387BF-9666-67A3-E976-F6F23416259D}"/>
                </a:ext>
              </a:extLst>
            </p:cNvPr>
            <p:cNvSpPr txBox="1"/>
            <p:nvPr/>
          </p:nvSpPr>
          <p:spPr>
            <a:xfrm>
              <a:off x="2647948" y="2347080"/>
              <a:ext cx="7448550" cy="5185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t>80% reduction in manual KYC workload.
Instant onboarding for low-risk customers.
100% auditability through downloadable PDF evidence trails.
Scalable to millions of onboarding requests with AMD ROCm local inference.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B4106D0-917A-447B-02C9-5FBF1E65ED6A}"/>
                </a:ext>
              </a:extLst>
            </p:cNvPr>
            <p:cNvGrpSpPr/>
            <p:nvPr/>
          </p:nvGrpSpPr>
          <p:grpSpPr>
            <a:xfrm>
              <a:off x="359875" y="3661880"/>
              <a:ext cx="10084286" cy="894280"/>
              <a:chOff x="426550" y="3305713"/>
              <a:chExt cx="10084286" cy="894280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3E16E81-8465-FADE-15BC-A886BF5DE218}"/>
                  </a:ext>
                </a:extLst>
              </p:cNvPr>
              <p:cNvSpPr txBox="1"/>
              <p:nvPr/>
            </p:nvSpPr>
            <p:spPr>
              <a:xfrm>
                <a:off x="426550" y="3615218"/>
                <a:ext cx="2154723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Key differentiators / innovation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E4DC2DD-2A36-046F-967B-29703C307510}"/>
                  </a:ext>
                </a:extLst>
              </p:cNvPr>
              <p:cNvSpPr txBox="1"/>
              <p:nvPr/>
            </p:nvSpPr>
            <p:spPr>
              <a:xfrm>
                <a:off x="2714623" y="3305713"/>
                <a:ext cx="7796213" cy="518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dirty="0"/>
                  <a:t>1. First system to use LangGraph multi-agent collaboration for KYC.
2. Replaces black-box AI scores with LLM-generated plain-English narratives.
3. AMD ROCm-optimized local inference - no third-party cloud required.
4. Real-time Precision/Recall tracking of AI vs. Human Analyst decisions.</a:t>
                </a:r>
                <a:r>
                  <a:rPr dirty="0" err="1"/>
                  <a:t/>
                </a:r>
                <a:r>
                  <a:rPr dirty="0"/>
                  <a:t/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BDF5EEC-7FDD-4D93-B705-139A569C9BD8}"/>
                </a:ext>
              </a:extLst>
            </p:cNvPr>
            <p:cNvGrpSpPr/>
            <p:nvPr/>
          </p:nvGrpSpPr>
          <p:grpSpPr>
            <a:xfrm>
              <a:off x="359875" y="5031770"/>
              <a:ext cx="10050950" cy="981638"/>
              <a:chOff x="426551" y="2809445"/>
              <a:chExt cx="10050950" cy="981638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8ACCB8-B42A-1580-1CA0-F28C8E6DE48D}"/>
                  </a:ext>
                </a:extLst>
              </p:cNvPr>
              <p:cNvSpPr txBox="1"/>
              <p:nvPr/>
            </p:nvSpPr>
            <p:spPr>
              <a:xfrm>
                <a:off x="426551" y="2960086"/>
                <a:ext cx="2288073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1600" b="1" dirty="0"/>
                  <a:t>Demo flow overview (what the jury should notice)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E06CB9C-E3FE-B628-69AF-0C224FDA6444}"/>
                  </a:ext>
                </a:extLst>
              </p:cNvPr>
              <p:cNvSpPr txBox="1"/>
              <p:nvPr/>
            </p:nvSpPr>
            <p:spPr>
              <a:xfrm>
                <a:off x="2714624" y="2809445"/>
                <a:ext cx="7762877" cy="5185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dirty="0"/>
                  <a:t>1. ONBOARDING: Submit customer form -&gt; watch 5 agents run in real-time.
2. RISK DASHBOARD: View AI risk score, band, and evidence flags.
3. HUMAN REVIEW QUEUE: Download PDF evidence report -&gt; override AI decision.
4. GLOBAL METRICS: Check AI Precision/Recall vs Human Analyst accuracy.</a:t>
                </a:r>
              </a:p>
            </p:txBody>
          </p: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21F999D-BDDA-7771-E392-D329264AFF27}"/>
                </a:ext>
              </a:extLst>
            </p:cNvPr>
            <p:cNvSpPr/>
            <p:nvPr/>
          </p:nvSpPr>
          <p:spPr>
            <a:xfrm>
              <a:off x="2647948" y="5003268"/>
              <a:ext cx="8743952" cy="1491797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E0E297F2-5FD1-B9BA-A177-7BCE9DBA6252}"/>
              </a:ext>
            </a:extLst>
          </p:cNvPr>
          <p:cNvSpPr txBox="1"/>
          <p:nvPr/>
        </p:nvSpPr>
        <p:spPr>
          <a:xfrm>
            <a:off x="4591050" y="1584901"/>
            <a:ext cx="43442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effectLst/>
              </a:rPr>
              <a:t>Impact &amp; Demo Summary</a:t>
            </a:r>
          </a:p>
        </p:txBody>
      </p:sp>
    </p:spTree>
    <p:extLst>
      <p:ext uri="{BB962C8B-B14F-4D97-AF65-F5344CB8AC3E}">
        <p14:creationId xmlns:p14="http://schemas.microsoft.com/office/powerpoint/2010/main" val="1239759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38432-BF8A-BC91-CE39-70B040B30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941C3F-FA16-1E1A-4F94-6E8AB5ED1588}"/>
              </a:ext>
            </a:extLst>
          </p:cNvPr>
          <p:cNvSpPr txBox="1"/>
          <p:nvPr/>
        </p:nvSpPr>
        <p:spPr>
          <a:xfrm>
            <a:off x="978350" y="3804413"/>
            <a:ext cx="4699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67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57783882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Learnings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41248"/>
            <a:ext cx="1005840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4754880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💡  What We Learned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44475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5B4FC"/>
                </a:solidFill>
              </a:rPr>
              <a:t>🔗  LangGraph Orchestration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1907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BD5E1"/>
                </a:solidFill>
              </a:rPr>
              <a:t>Mastered stateful, multi-agent graph pipelines where each agent independently enriches a shared KYCState object. Learned to handle conditional branching and graceful fallbacks when LLM calls fail.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2860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5B4FC"/>
                </a:solidFill>
              </a:rPr>
              <a:t>AMD Cloud Platform (ROCm Developer Environment)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603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BD5E1"/>
                </a:solidFill>
              </a:rPr>
              <a:t>Leveraged AMD's free cloud GPU environment to deploy and run our vLLM inference server on AMD Instinct GPUs. Gained hands-on experience with AMD ROCm stack, HIP programming model, and AMD's developer toolchain — understanding how AMD's cloud is a powerful, cost-effective alternative to NVIDIA for AI workloads.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12724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5B4FC"/>
                </a:solidFill>
              </a:rPr>
              <a:t>🧠  Explainable AI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0156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BD5E1"/>
                </a:solidFill>
              </a:rPr>
              <a:t>Discovered that using a dedicated 'narrator' LLM agent to synthesize findings into plain-English stories is far more effective for compliance than raw numeric scores or flag lists.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96849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5B4FC"/>
                </a:solidFill>
              </a:rPr>
              <a:t>🔄  Human-in-the-Loop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42816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BD5E1"/>
                </a:solidFill>
              </a:rPr>
              <a:t>Learned how to design escalation thresholds, evidence trails, and PDF generation workflows that empower human analysts rather than replacing them.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0" y="960120"/>
            <a:ext cx="5029200" cy="41148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9601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🚀  Future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14447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4D399"/>
                </a:solidFill>
              </a:rPr>
              <a:t>📄  Document Upload &amp; Vision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1719072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BD5E1"/>
                </a:solidFill>
              </a:rPr>
              <a:t>Integrate multimodal vision models to directly scan uploaded Aadhaar/Passport images, extract fields automatically, and perform liveness/face-match detection without manual data entry.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22860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4D399"/>
                </a:solidFill>
              </a:rPr>
              <a:t>📚  RAG-Based Regulatory Lookup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25603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BD5E1"/>
                </a:solidFill>
              </a:rPr>
              <a:t>Add a Retrieval-Augmented Generation (RAG) layer connected to a live regulatory database (FATF, RBI, FinCEN). Agents will cite the exact regulation that triggered a compliance flag.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312724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4D399"/>
                </a:solidFill>
              </a:rPr>
              <a:t>📱  Mobile KYC 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340156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BD5E1"/>
                </a:solidFill>
              </a:rPr>
              <a:t>Build a React Native mobile application where customers can complete KYC in under 60 seconds through guided document capture, face scan, and real-time agent feedback.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396849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4D399"/>
                </a:solidFill>
              </a:rPr>
              <a:t>🌐  Multi-Jurisdiction Compliance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4242816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BD5E1"/>
                </a:solidFill>
              </a:rPr>
              <a:t>Extend the screening agent to support configurable rule-sets per country (GDPR, MiCA, DPDPA), enabling a single platform to serve global banking and crypto customers.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12080" y="960120"/>
            <a:ext cx="27432" cy="493776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5806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</a:rPr>
              <a:t>DN Agentic KYC Intelligence Platform  |  TCS × AMD AI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6154de5-2709-4c53-bb16-150dcccdfdde">
      <Terms xmlns="http://schemas.microsoft.com/office/infopath/2007/PartnerControls"/>
    </lcf76f155ced4ddcb4097134ff3c332f>
    <TaxCatchAll xmlns="1ed6c3e1-1f09-466b-8145-3f68e7c93ad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5E0B734DE84C47ADA49F014D6D3763" ma:contentTypeVersion="14" ma:contentTypeDescription="Create a new document." ma:contentTypeScope="" ma:versionID="b1ec707231c61651037e91af93f785fb">
  <xsd:schema xmlns:xsd="http://www.w3.org/2001/XMLSchema" xmlns:xs="http://www.w3.org/2001/XMLSchema" xmlns:p="http://schemas.microsoft.com/office/2006/metadata/properties" xmlns:ns2="86154de5-2709-4c53-bb16-150dcccdfdde" xmlns:ns3="1ed6c3e1-1f09-466b-8145-3f68e7c93ad9" targetNamespace="http://schemas.microsoft.com/office/2006/metadata/properties" ma:root="true" ma:fieldsID="cf9ff3f05e63a30acf7dd48d339b994d" ns2:_="" ns3:_="">
    <xsd:import namespace="86154de5-2709-4c53-bb16-150dcccdfdde"/>
    <xsd:import namespace="1ed6c3e1-1f09-466b-8145-3f68e7c93a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154de5-2709-4c53-bb16-150dcccdfd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5866b93a-4635-4247-88ec-09744cab27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d6c3e1-1f09-466b-8145-3f68e7c93ad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22283f7c-1dd4-488b-ae2c-749245031ab1}" ma:internalName="TaxCatchAll" ma:showField="CatchAllData" ma:web="1ed6c3e1-1f09-466b-8145-3f68e7c93ad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5C04C94-777F-4342-9550-38E092D78CB6}">
  <ds:schemaRefs>
    <ds:schemaRef ds:uri="http://purl.org/dc/terms/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dcmitype/"/>
    <ds:schemaRef ds:uri="86154de5-2709-4c53-bb16-150dcccdfdde"/>
    <ds:schemaRef ds:uri="http://schemas.microsoft.com/office/infopath/2007/PartnerControls"/>
    <ds:schemaRef ds:uri="1ed6c3e1-1f09-466b-8145-3f68e7c93ad9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59091F40-538C-40CE-87C6-2153E9BAFAA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6154de5-2709-4c53-bb16-150dcccdfdde"/>
    <ds:schemaRef ds:uri="1ed6c3e1-1f09-466b-8145-3f68e7c93ad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1A155FC-EAC2-442F-8A1E-12517023185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04b1967-6507-45ab-8a6d-7374a3f478be}" enabled="0" method="" siteId="{404b1967-6507-45ab-8a6d-7374a3f478b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523</Words>
  <Application>Microsoft Office PowerPoint</Application>
  <PresentationFormat>Widescreen</PresentationFormat>
  <Paragraphs>74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Houschka Rounded Alt Medium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Swapnali Patil</dc:creator>
  <cp:lastModifiedBy>Ram Sai Divvi</cp:lastModifiedBy>
  <cp:revision>5</cp:revision>
  <dcterms:created xsi:type="dcterms:W3CDTF">2026-05-26T11:32:19Z</dcterms:created>
  <dcterms:modified xsi:type="dcterms:W3CDTF">2026-06-17T05:13:44Z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0x0101005B5E0B734DE84C47ADA49F014D6D3763</vt:lpwstr>
  </property>
  <property fmtid="{D5CDD505-2E9C-101B-9397-08002B2CF9AE}" pid="3" name="MediaServiceImageTags">
    <vt:lpwstr/>
  </property>
</Properties>
</file>